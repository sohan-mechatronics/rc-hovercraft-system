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6ADE3-3083-46F8-85D8-1DB4768D5280}" v="1" dt="2026-04-28T16:18:31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N DEVANSH" userId="92fb8ca87dfab57a" providerId="LiveId" clId="{AE02ABBF-8435-4031-8EAF-A0A7F80B072A}"/>
    <pc:docChg chg="custSel modSld">
      <pc:chgData name="SOHAN DEVANSH" userId="92fb8ca87dfab57a" providerId="LiveId" clId="{AE02ABBF-8435-4031-8EAF-A0A7F80B072A}" dt="2026-04-28T16:19:58.794" v="78" actId="14100"/>
      <pc:docMkLst>
        <pc:docMk/>
      </pc:docMkLst>
      <pc:sldChg chg="modSp mod">
        <pc:chgData name="SOHAN DEVANSH" userId="92fb8ca87dfab57a" providerId="LiveId" clId="{AE02ABBF-8435-4031-8EAF-A0A7F80B072A}" dt="2026-04-28T16:15:31.421" v="29" actId="123"/>
        <pc:sldMkLst>
          <pc:docMk/>
          <pc:sldMk cId="1803879465" sldId="344"/>
        </pc:sldMkLst>
        <pc:spChg chg="mod">
          <ac:chgData name="SOHAN DEVANSH" userId="92fb8ca87dfab57a" providerId="LiveId" clId="{AE02ABBF-8435-4031-8EAF-A0A7F80B072A}" dt="2026-04-28T16:15:31.421" v="29" actId="123"/>
          <ac:spMkLst>
            <pc:docMk/>
            <pc:sldMk cId="1803879465" sldId="344"/>
            <ac:spMk id="7" creationId="{00ECDFA2-7555-8FB5-31D5-C667E3B6FE2F}"/>
          </ac:spMkLst>
        </pc:spChg>
      </pc:sldChg>
      <pc:sldChg chg="addSp delSp modSp mod">
        <pc:chgData name="SOHAN DEVANSH" userId="92fb8ca87dfab57a" providerId="LiveId" clId="{AE02ABBF-8435-4031-8EAF-A0A7F80B072A}" dt="2026-04-28T16:19:58.794" v="78" actId="14100"/>
        <pc:sldMkLst>
          <pc:docMk/>
          <pc:sldMk cId="268981895" sldId="345"/>
        </pc:sldMkLst>
        <pc:spChg chg="mod">
          <ac:chgData name="SOHAN DEVANSH" userId="92fb8ca87dfab57a" providerId="LiveId" clId="{AE02ABBF-8435-4031-8EAF-A0A7F80B072A}" dt="2026-04-28T16:15:08.586" v="23" actId="123"/>
          <ac:spMkLst>
            <pc:docMk/>
            <pc:sldMk cId="268981895" sldId="345"/>
            <ac:spMk id="11" creationId="{673D7E1D-DC2F-920F-4AB1-F981A96841A7}"/>
          </ac:spMkLst>
        </pc:spChg>
        <pc:picChg chg="add mod">
          <ac:chgData name="SOHAN DEVANSH" userId="92fb8ca87dfab57a" providerId="LiveId" clId="{AE02ABBF-8435-4031-8EAF-A0A7F80B072A}" dt="2026-04-28T16:19:58.794" v="78" actId="14100"/>
          <ac:picMkLst>
            <pc:docMk/>
            <pc:sldMk cId="268981895" sldId="345"/>
            <ac:picMk id="3" creationId="{2B282310-6383-C36C-806C-14D05E4BE112}"/>
          </ac:picMkLst>
        </pc:picChg>
        <pc:picChg chg="add del mod">
          <ac:chgData name="SOHAN DEVANSH" userId="92fb8ca87dfab57a" providerId="LiveId" clId="{AE02ABBF-8435-4031-8EAF-A0A7F80B072A}" dt="2026-04-28T10:20:39.521" v="1" actId="478"/>
          <ac:picMkLst>
            <pc:docMk/>
            <pc:sldMk cId="268981895" sldId="345"/>
            <ac:picMk id="3" creationId="{4B768006-8C1B-AD62-DCDB-7B113A46FFF3}"/>
          </ac:picMkLst>
        </pc:picChg>
      </pc:sldChg>
      <pc:sldChg chg="modSp mod">
        <pc:chgData name="SOHAN DEVANSH" userId="92fb8ca87dfab57a" providerId="LiveId" clId="{AE02ABBF-8435-4031-8EAF-A0A7F80B072A}" dt="2026-04-28T16:17:11.267" v="43" actId="113"/>
        <pc:sldMkLst>
          <pc:docMk/>
          <pc:sldMk cId="3460168070" sldId="349"/>
        </pc:sldMkLst>
        <pc:spChg chg="mod">
          <ac:chgData name="SOHAN DEVANSH" userId="92fb8ca87dfab57a" providerId="LiveId" clId="{AE02ABBF-8435-4031-8EAF-A0A7F80B072A}" dt="2026-04-28T16:17:11.267" v="43" actId="113"/>
          <ac:spMkLst>
            <pc:docMk/>
            <pc:sldMk cId="3460168070" sldId="349"/>
            <ac:spMk id="5" creationId="{D9002AD3-D191-3703-DD72-A4B94CEE8373}"/>
          </ac:spMkLst>
        </pc:spChg>
      </pc:sldChg>
      <pc:sldChg chg="modSp mod">
        <pc:chgData name="SOHAN DEVANSH" userId="92fb8ca87dfab57a" providerId="LiveId" clId="{AE02ABBF-8435-4031-8EAF-A0A7F80B072A}" dt="2026-04-28T16:18:49.728" v="77" actId="20577"/>
        <pc:sldMkLst>
          <pc:docMk/>
          <pc:sldMk cId="1644332987" sldId="350"/>
        </pc:sldMkLst>
        <pc:spChg chg="mod">
          <ac:chgData name="SOHAN DEVANSH" userId="92fb8ca87dfab57a" providerId="LiveId" clId="{AE02ABBF-8435-4031-8EAF-A0A7F80B072A}" dt="2026-04-28T16:18:49.728" v="77" actId="20577"/>
          <ac:spMkLst>
            <pc:docMk/>
            <pc:sldMk cId="1644332987" sldId="350"/>
            <ac:spMk id="40" creationId="{A320F716-62A5-E704-4F74-426373BC85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E947-A767-7BF8-5730-DE5A3DFDD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A7951-B89F-B4A1-6022-AC50C57D5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260FB-BB4C-E61E-4214-FD89947E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2749C-9958-A755-9E06-55EF2B12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7061D-BDD1-731D-D50F-F7038F64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8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9C46-788B-E387-2866-6D022EA0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66A9-0AED-4EAF-71BF-635CD1E6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FBC8A-FF0E-40E7-A78F-10F59B05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2925-2D0D-08EE-8505-1AA0F94A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B28D7-E650-51EC-B951-24CD06F4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0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4636-6A51-70F1-DF1E-F7180E18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15597-3B93-FBB1-3E12-AF640B2D5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6D14E-0EAA-625F-A3AD-4607743D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6ED05-69DC-0F60-432B-9BFE162E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5E5A2-52A2-6069-2514-FAE0BF62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15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8B96-93D0-9E2D-A8F1-F99E84FD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DFF72-76B2-09CF-BF5F-628243B39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42ACE-27FC-E6F6-6E68-512602392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530B6-8684-E1DD-BBA5-1B1EF9BF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61773-5F8F-9CEE-FFBE-769AEB21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C3E3D-4FCB-DEE3-98EE-69EE2ED3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2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02EF-1DA2-FFEF-31DD-CB154ADD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22193-2258-33EB-E87A-CCDFDA1B3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734D9-3FF9-A462-217A-4D9BB7974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1A3F9-3CBC-C1FF-8343-439798F1C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CDECD-1E0A-6488-AD3C-944BEA2F1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49895-6178-A0DA-45FE-4B146129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1F7D2-4DFA-B326-F0E8-0D885917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86418-F45F-E50D-327E-453778A6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87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159F-8002-CFC0-E91F-B26BEEE7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0617F-6E14-6968-2E11-859FAC66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6BA5F-5A1F-CCB0-FD09-71CB3A3B5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9BDC5-9307-A8BC-4D90-2035BE64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900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6D9B1-6D94-33BC-A427-979381DF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028D6-F290-A005-B1EF-FED72FF6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1A43A-EE41-0723-040F-99A0B400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97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5337-3679-3BC0-C154-D754EB7B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637F6-F615-6C78-AE0E-1FF52A56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3E442-D222-6BC0-6949-F8E3ED9C9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0DA5C-8346-7110-A70F-281AA74F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C71A6-3CCE-E830-AF60-8C117DC4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9173F-0604-ABFC-223E-7D4A9295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39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E0B9-94A2-8C76-6B86-A151B47AA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22996-7FDC-AF61-C23B-3DB806CB3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9901A-186D-D31E-62AF-71DE80C73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F72E6-96A0-9718-5137-83F6E9E0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3A12B-E2E6-1410-33C4-4A2274A2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13083-CC43-56EF-AE69-A3DCDA14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3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8775-7454-39CC-0FBD-E9ED1BDF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43B51-812A-C211-51DB-D9876D7B9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7EDE4-D541-E8F1-72B3-32F91DB3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0DCD1-BD2E-F890-D860-339BF3A1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4767E-12C9-3A59-AC94-C5E90BAA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8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5BF9C-CF7F-895D-F254-66E0EDC9B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01D7F-BC50-5854-CC25-205D7F6C2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2313-101D-9C37-D6B4-B0E5D6AD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E7EF-D466-DD27-3CDA-DFF7792C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DCD94-42D6-6521-E575-CF3D0F73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5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11069-A571-9291-68B4-6152EBF0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20EC2-3D92-38AC-CA01-EF6F03C2A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4D156-6A69-1703-E5B3-E4F23FE70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F1364-3E10-4050-BCC6-3210B3354C75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789E-808B-6ABF-8F64-011BB29A3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C22A2-1421-B46A-3EFE-4D635011A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60BCD-FB7D-4BFB-932F-58BA14F333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74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085002"/>
              </p:ext>
            </p:extLst>
          </p:nvPr>
        </p:nvGraphicFramePr>
        <p:xfrm>
          <a:off x="76200" y="4043166"/>
          <a:ext cx="3542214" cy="2791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043166"/>
                        <a:ext cx="3542214" cy="27910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" y="24501"/>
            <a:ext cx="3960466" cy="1578392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6606304" y="5691467"/>
            <a:ext cx="78534" cy="8172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C4F0D6-C1EE-1F5C-5A95-2F65082A20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574" y="206477"/>
            <a:ext cx="2038911" cy="11110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E2BA9E-7D66-1895-E87A-68722619B082}"/>
              </a:ext>
            </a:extLst>
          </p:cNvPr>
          <p:cNvSpPr txBox="1"/>
          <p:nvPr/>
        </p:nvSpPr>
        <p:spPr>
          <a:xfrm>
            <a:off x="6804113" y="5862419"/>
            <a:ext cx="1661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Guided By: </a:t>
            </a:r>
          </a:p>
          <a:p>
            <a:r>
              <a:rPr lang="en-US" dirty="0"/>
              <a:t>Mr. Vinay Shah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B05E7-4734-B6A8-8C9D-EEB8773EEE88}"/>
              </a:ext>
            </a:extLst>
          </p:cNvPr>
          <p:cNvSpPr txBox="1"/>
          <p:nvPr/>
        </p:nvSpPr>
        <p:spPr>
          <a:xfrm>
            <a:off x="2536994" y="1515813"/>
            <a:ext cx="7970210" cy="312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MECHATRONICS DEPARTMENT(BE)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MINOR PROJECT PRESENTAION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Design, Fabrication and Performance Analysis of an Air Cushion Vehicle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6E205-7F80-11B0-E8F3-42C919DB090B}"/>
              </a:ext>
            </a:extLst>
          </p:cNvPr>
          <p:cNvSpPr txBox="1"/>
          <p:nvPr/>
        </p:nvSpPr>
        <p:spPr>
          <a:xfrm>
            <a:off x="2943997" y="5585420"/>
            <a:ext cx="3542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Submitted By:</a:t>
            </a:r>
          </a:p>
          <a:p>
            <a:r>
              <a:rPr lang="en-IN" dirty="0"/>
              <a:t> Sohan Kumar | UID – 25BEM80005</a:t>
            </a:r>
          </a:p>
          <a:p>
            <a:r>
              <a:rPr lang="en-IN" dirty="0"/>
              <a:t> Ansh Maurya  | UID – 24BEM10034</a:t>
            </a:r>
          </a:p>
        </p:txBody>
      </p:sp>
    </p:spTree>
    <p:extLst>
      <p:ext uri="{BB962C8B-B14F-4D97-AF65-F5344CB8AC3E}">
        <p14:creationId xmlns:p14="http://schemas.microsoft.com/office/powerpoint/2010/main" val="202584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B169E-B98A-D103-7144-A71E4040B1BD}"/>
              </a:ext>
            </a:extLst>
          </p:cNvPr>
          <p:cNvSpPr txBox="1"/>
          <p:nvPr/>
        </p:nvSpPr>
        <p:spPr>
          <a:xfrm>
            <a:off x="4896164" y="514488"/>
            <a:ext cx="26055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CONTENTS</a:t>
            </a:r>
            <a:endParaRPr lang="en-IN" sz="4000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B192F-62A7-8A78-25C3-D28387C52079}"/>
              </a:ext>
            </a:extLst>
          </p:cNvPr>
          <p:cNvSpPr txBox="1"/>
          <p:nvPr/>
        </p:nvSpPr>
        <p:spPr>
          <a:xfrm>
            <a:off x="1847489" y="1749469"/>
            <a:ext cx="5654223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1. Introduction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 Objective of Project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3. Components Used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4. Block Diagram and Working Principle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5. Design and Fabrication Process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6. Results and Conclusion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4720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C02DE7-7263-9684-3F92-38B3F394DCF7}"/>
              </a:ext>
            </a:extLst>
          </p:cNvPr>
          <p:cNvSpPr txBox="1"/>
          <p:nvPr/>
        </p:nvSpPr>
        <p:spPr>
          <a:xfrm>
            <a:off x="4149213" y="550606"/>
            <a:ext cx="4375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INTRODUCTION</a:t>
            </a:r>
            <a:endParaRPr lang="en-IN" sz="40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CDFA2-7555-8FB5-31D5-C667E3B6FE2F}"/>
              </a:ext>
            </a:extLst>
          </p:cNvPr>
          <p:cNvSpPr txBox="1"/>
          <p:nvPr/>
        </p:nvSpPr>
        <p:spPr>
          <a:xfrm>
            <a:off x="822824" y="1596451"/>
            <a:ext cx="58112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A hovercraft is an air cushion vehicle that moves on a layer of air below its body.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The air layer reduces friction and allows smooth movement over land and water surfaces.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The system uses one motor for lift generation and another motor for forward thrust.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Direction control is achieved using a servo operated rudder mechanism.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This project demonstrates the practical use of hovercraft technology.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24FA2-F454-5897-60A0-BD144A91E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41" y="1699087"/>
            <a:ext cx="5303574" cy="44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7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17B44-1FF1-AD47-E1B9-375598FF9CD1}"/>
              </a:ext>
            </a:extLst>
          </p:cNvPr>
          <p:cNvSpPr txBox="1"/>
          <p:nvPr/>
        </p:nvSpPr>
        <p:spPr>
          <a:xfrm>
            <a:off x="4100252" y="363792"/>
            <a:ext cx="4866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Objective of Project</a:t>
            </a:r>
            <a:endParaRPr lang="en-IN" sz="4000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3D7E1D-DC2F-920F-4AB1-F981A96841A7}"/>
              </a:ext>
            </a:extLst>
          </p:cNvPr>
          <p:cNvSpPr txBox="1"/>
          <p:nvPr/>
        </p:nvSpPr>
        <p:spPr>
          <a:xfrm>
            <a:off x="996370" y="1484093"/>
            <a:ext cx="6346822" cy="493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/>
              <a:t>The project was developed to understand the practical working of an RC controlled hovercraft system. The main objectives of the project are as follows: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• Design a compact and lightweight hovercraft body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Generate lift using BLDC motor and propeller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Provide forward motion using thrust motor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Achieve steering through servo rudder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Use RC transmitter and receiver for wireless control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Study the performance of air cushion technology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82310-6383-C36C-806C-14D05E4BE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36" y="1551756"/>
            <a:ext cx="4189444" cy="4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9BC732-4E12-F784-3E86-CE831CE5A5F0}"/>
              </a:ext>
            </a:extLst>
          </p:cNvPr>
          <p:cNvSpPr txBox="1"/>
          <p:nvPr/>
        </p:nvSpPr>
        <p:spPr>
          <a:xfrm>
            <a:off x="4060421" y="350055"/>
            <a:ext cx="4682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COMPONENTS USED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81F26-4CE2-EFCA-29E9-11455FF5572F}"/>
              </a:ext>
            </a:extLst>
          </p:cNvPr>
          <p:cNvSpPr txBox="1"/>
          <p:nvPr/>
        </p:nvSpPr>
        <p:spPr>
          <a:xfrm rot="10800000" flipH="1" flipV="1">
            <a:off x="998376" y="1804299"/>
            <a:ext cx="3946848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 Main Components: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b="1" dirty="0"/>
              <a:t>BLDC Motors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• </a:t>
            </a:r>
            <a:r>
              <a:rPr lang="en-US" sz="2000" b="1" dirty="0"/>
              <a:t>ESC (Electronic Speed Controller)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</a:t>
            </a:r>
            <a:r>
              <a:rPr lang="en-US" sz="2000" dirty="0"/>
              <a:t>• </a:t>
            </a:r>
            <a:r>
              <a:rPr lang="en-US" sz="2000" b="1" dirty="0"/>
              <a:t>LiPo Battery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</a:t>
            </a:r>
            <a:r>
              <a:rPr lang="en-US" sz="2000" dirty="0"/>
              <a:t>• </a:t>
            </a:r>
            <a:r>
              <a:rPr lang="en-US" sz="2000" b="1" dirty="0"/>
              <a:t>Servo Motor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b="1" dirty="0"/>
              <a:t>RC Transmitter &amp; </a:t>
            </a:r>
            <a:r>
              <a:rPr lang="en-US" sz="2000" dirty="0"/>
              <a:t> </a:t>
            </a:r>
            <a:r>
              <a:rPr lang="en-US" sz="2000" b="1" dirty="0"/>
              <a:t>RC Receiver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b="1" dirty="0"/>
              <a:t>Propellers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b="1" dirty="0"/>
              <a:t>XT60 Connector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</a:t>
            </a:r>
            <a:r>
              <a:rPr lang="en-US" sz="2000" dirty="0"/>
              <a:t>• </a:t>
            </a:r>
            <a:r>
              <a:rPr lang="en-US" sz="2000" b="1" dirty="0"/>
              <a:t>3D Printed Body Parts</a:t>
            </a:r>
            <a:endParaRPr lang="en-IN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6AA3AF-DFBA-67FB-361E-509802A0198C}"/>
              </a:ext>
            </a:extLst>
          </p:cNvPr>
          <p:cNvSpPr txBox="1"/>
          <p:nvPr/>
        </p:nvSpPr>
        <p:spPr>
          <a:xfrm>
            <a:off x="998376" y="1138334"/>
            <a:ext cx="9955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hovercraft model was developed using electrical, mechanical, and control components. The main components used are listed below: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B88FC-08AE-7B38-AD54-C35951491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224" y="1926613"/>
            <a:ext cx="6951307" cy="476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55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89E332-90ED-3900-6703-D966C7873097}"/>
              </a:ext>
            </a:extLst>
          </p:cNvPr>
          <p:cNvSpPr txBox="1"/>
          <p:nvPr/>
        </p:nvSpPr>
        <p:spPr>
          <a:xfrm>
            <a:off x="2331249" y="339401"/>
            <a:ext cx="7325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BLOCK DIAGRAM AND WORKING </a:t>
            </a:r>
            <a:endParaRPr lang="en-IN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FCBA5-9DE8-E293-ECAD-A2F4F5452B63}"/>
              </a:ext>
            </a:extLst>
          </p:cNvPr>
          <p:cNvSpPr txBox="1"/>
          <p:nvPr/>
        </p:nvSpPr>
        <p:spPr>
          <a:xfrm>
            <a:off x="969682" y="1278093"/>
            <a:ext cx="100490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The working of the hovercraft is based on lift generation, forward thrust, and steering control. The system operation is explained below: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3D338-4954-5D86-A326-F96B9CB2DD57}"/>
              </a:ext>
            </a:extLst>
          </p:cNvPr>
          <p:cNvSpPr txBox="1"/>
          <p:nvPr/>
        </p:nvSpPr>
        <p:spPr>
          <a:xfrm>
            <a:off x="969682" y="2126666"/>
            <a:ext cx="9488932" cy="510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Working Steps:</a:t>
            </a:r>
          </a:p>
          <a:p>
            <a:pPr>
              <a:lnSpc>
                <a:spcPct val="200000"/>
              </a:lnSpc>
            </a:pPr>
            <a:r>
              <a:rPr lang="en-US" dirty="0"/>
              <a:t>• LiPo battery supplies power to the ESC units and receiver system.</a:t>
            </a:r>
          </a:p>
          <a:p>
            <a:pPr>
              <a:lnSpc>
                <a:spcPct val="200000"/>
              </a:lnSpc>
            </a:pPr>
            <a:r>
              <a:rPr lang="en-US" dirty="0"/>
              <a:t>• RC transmitter sends control signals to the receiver wirelessly.</a:t>
            </a:r>
          </a:p>
          <a:p>
            <a:pPr>
              <a:lnSpc>
                <a:spcPct val="200000"/>
              </a:lnSpc>
            </a:pPr>
            <a:r>
              <a:rPr lang="en-US" dirty="0"/>
              <a:t>• Receiver distributes signals to both ESC units and servo motor.</a:t>
            </a:r>
          </a:p>
          <a:p>
            <a:pPr>
              <a:lnSpc>
                <a:spcPct val="200000"/>
              </a:lnSpc>
            </a:pPr>
            <a:r>
              <a:rPr lang="en-US" dirty="0"/>
              <a:t>• Lift motor rotates the propeller to create an air cushion below the body.</a:t>
            </a:r>
          </a:p>
          <a:p>
            <a:pPr>
              <a:lnSpc>
                <a:spcPct val="200000"/>
              </a:lnSpc>
            </a:pPr>
            <a:r>
              <a:rPr lang="en-US" dirty="0"/>
              <a:t>• Thrust motor generates forward force for movement of the hovercraft.</a:t>
            </a:r>
          </a:p>
          <a:p>
            <a:pPr>
              <a:lnSpc>
                <a:spcPct val="200000"/>
              </a:lnSpc>
            </a:pPr>
            <a:r>
              <a:rPr lang="en-US" dirty="0"/>
              <a:t>• Servo motor controls the rudder angle for left and right turning.</a:t>
            </a:r>
          </a:p>
          <a:p>
            <a:pPr>
              <a:lnSpc>
                <a:spcPct val="200000"/>
              </a:lnSpc>
            </a:pPr>
            <a:r>
              <a:rPr lang="en-US" dirty="0"/>
              <a:t>• Combined operation of lift, thrust, and steering enables smooth movement.</a:t>
            </a:r>
          </a:p>
          <a:p>
            <a:pPr>
              <a:lnSpc>
                <a:spcPct val="2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86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2E8900-D1D7-E675-D0F6-0985E2B378BB}"/>
              </a:ext>
            </a:extLst>
          </p:cNvPr>
          <p:cNvSpPr txBox="1"/>
          <p:nvPr/>
        </p:nvSpPr>
        <p:spPr>
          <a:xfrm>
            <a:off x="4190498" y="282333"/>
            <a:ext cx="3811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BLOCK DIAGRAM</a:t>
            </a:r>
            <a:endParaRPr lang="en-IN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46B930-7A48-3D8A-8017-FB869C72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62" y="1207133"/>
            <a:ext cx="1343025" cy="1856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838CB7-4656-19EA-AC06-903630A20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898" y="3503645"/>
            <a:ext cx="4303355" cy="2904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6F3760-4193-3124-D47E-B61DF842E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60" y="1473384"/>
            <a:ext cx="2645100" cy="15900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8483E0-4868-E772-FD7D-AEC8E9BFF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940" y="836015"/>
            <a:ext cx="3133725" cy="143238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1983D4-960A-7F30-7C5F-76A92369D8AB}"/>
              </a:ext>
            </a:extLst>
          </p:cNvPr>
          <p:cNvCxnSpPr>
            <a:cxnSpLocks/>
          </p:cNvCxnSpPr>
          <p:nvPr/>
        </p:nvCxnSpPr>
        <p:spPr>
          <a:xfrm flipH="1">
            <a:off x="5878573" y="3063416"/>
            <a:ext cx="1" cy="511053"/>
          </a:xfrm>
          <a:prstGeom prst="straightConnector1">
            <a:avLst/>
          </a:prstGeom>
          <a:ln w="254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F93D97-71EB-A45A-8534-1D5B2694CC19}"/>
              </a:ext>
            </a:extLst>
          </p:cNvPr>
          <p:cNvCxnSpPr/>
          <p:nvPr/>
        </p:nvCxnSpPr>
        <p:spPr>
          <a:xfrm flipH="1">
            <a:off x="4674637" y="2789853"/>
            <a:ext cx="532425" cy="0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40E3A3-CE44-A843-4E00-E37AD75E7FA9}"/>
              </a:ext>
            </a:extLst>
          </p:cNvPr>
          <p:cNvCxnSpPr>
            <a:cxnSpLocks/>
          </p:cNvCxnSpPr>
          <p:nvPr/>
        </p:nvCxnSpPr>
        <p:spPr>
          <a:xfrm>
            <a:off x="4674637" y="2789853"/>
            <a:ext cx="0" cy="713792"/>
          </a:xfrm>
          <a:prstGeom prst="straightConnector1">
            <a:avLst/>
          </a:prstGeom>
          <a:ln w="254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2342F8-7CC7-41C3-103D-54834494DFA7}"/>
              </a:ext>
            </a:extLst>
          </p:cNvPr>
          <p:cNvCxnSpPr/>
          <p:nvPr/>
        </p:nvCxnSpPr>
        <p:spPr>
          <a:xfrm>
            <a:off x="6550087" y="2789853"/>
            <a:ext cx="494525" cy="0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402CBA-1BD1-140F-2CC4-DAF400BBA050}"/>
              </a:ext>
            </a:extLst>
          </p:cNvPr>
          <p:cNvCxnSpPr>
            <a:cxnSpLocks/>
          </p:cNvCxnSpPr>
          <p:nvPr/>
        </p:nvCxnSpPr>
        <p:spPr>
          <a:xfrm>
            <a:off x="7044612" y="2789853"/>
            <a:ext cx="0" cy="784616"/>
          </a:xfrm>
          <a:prstGeom prst="straightConnector1">
            <a:avLst/>
          </a:prstGeom>
          <a:ln w="2540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CA38F6-4009-054C-D993-F87D8B9EDB3D}"/>
              </a:ext>
            </a:extLst>
          </p:cNvPr>
          <p:cNvCxnSpPr>
            <a:cxnSpLocks/>
          </p:cNvCxnSpPr>
          <p:nvPr/>
        </p:nvCxnSpPr>
        <p:spPr>
          <a:xfrm>
            <a:off x="2628900" y="2962275"/>
            <a:ext cx="0" cy="733425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EE481A-9042-27B2-934B-243A5D2E587A}"/>
              </a:ext>
            </a:extLst>
          </p:cNvPr>
          <p:cNvCxnSpPr>
            <a:cxnSpLocks/>
          </p:cNvCxnSpPr>
          <p:nvPr/>
        </p:nvCxnSpPr>
        <p:spPr>
          <a:xfrm>
            <a:off x="2609850" y="3695700"/>
            <a:ext cx="1190625" cy="0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B435A8-B5B9-CE8C-39DF-3DAA113F7688}"/>
              </a:ext>
            </a:extLst>
          </p:cNvPr>
          <p:cNvCxnSpPr/>
          <p:nvPr/>
        </p:nvCxnSpPr>
        <p:spPr>
          <a:xfrm>
            <a:off x="3019425" y="2962275"/>
            <a:ext cx="0" cy="366712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15CEFE-4BED-E68B-BE30-762BECF6013F}"/>
              </a:ext>
            </a:extLst>
          </p:cNvPr>
          <p:cNvCxnSpPr/>
          <p:nvPr/>
        </p:nvCxnSpPr>
        <p:spPr>
          <a:xfrm>
            <a:off x="3019425" y="3328987"/>
            <a:ext cx="2438400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8B95394-276B-0BFC-A599-02BCF2AAD966}"/>
              </a:ext>
            </a:extLst>
          </p:cNvPr>
          <p:cNvCxnSpPr/>
          <p:nvPr/>
        </p:nvCxnSpPr>
        <p:spPr>
          <a:xfrm>
            <a:off x="5457825" y="3318942"/>
            <a:ext cx="0" cy="255527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31BF98-A7EB-1CF5-1752-B861CE6B9A7E}"/>
              </a:ext>
            </a:extLst>
          </p:cNvPr>
          <p:cNvCxnSpPr/>
          <p:nvPr/>
        </p:nvCxnSpPr>
        <p:spPr>
          <a:xfrm flipV="1">
            <a:off x="6229350" y="3063416"/>
            <a:ext cx="0" cy="511053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BB05992-20F2-F142-CB19-8DD14C17FF66}"/>
              </a:ext>
            </a:extLst>
          </p:cNvPr>
          <p:cNvCxnSpPr>
            <a:cxnSpLocks/>
          </p:cNvCxnSpPr>
          <p:nvPr/>
        </p:nvCxnSpPr>
        <p:spPr>
          <a:xfrm flipH="1">
            <a:off x="6229350" y="3318942"/>
            <a:ext cx="1628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1BE4970-1E6C-D5D7-93E6-632A3470AEC0}"/>
              </a:ext>
            </a:extLst>
          </p:cNvPr>
          <p:cNvSpPr txBox="1"/>
          <p:nvPr/>
        </p:nvSpPr>
        <p:spPr>
          <a:xfrm>
            <a:off x="7858125" y="3144321"/>
            <a:ext cx="414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 Output (5V) From ESC 2 to Receiver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80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450C2-F8FA-4AA4-8F09-CB770327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A7493-62AA-0721-81F9-D25202629445}"/>
              </a:ext>
            </a:extLst>
          </p:cNvPr>
          <p:cNvSpPr txBox="1"/>
          <p:nvPr/>
        </p:nvSpPr>
        <p:spPr>
          <a:xfrm>
            <a:off x="2911150" y="223935"/>
            <a:ext cx="6746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Design and Fabrication Process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02AD3-D191-3703-DD72-A4B94CEE8373}"/>
              </a:ext>
            </a:extLst>
          </p:cNvPr>
          <p:cNvSpPr txBox="1"/>
          <p:nvPr/>
        </p:nvSpPr>
        <p:spPr>
          <a:xfrm>
            <a:off x="1110343" y="1175657"/>
            <a:ext cx="9619861" cy="554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000" dirty="0"/>
              <a:t>The hovercraft body and supporting parts were designed and fabricated using suitable software tools and manufacturing methods.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The complete process is summarized below: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CAD modelling and body design using FreeCAD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Slicing of final CAD model using Ultimaker Cura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3D printing of body parts using PLA material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Assembly of motors, battery, ESC, and electronics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Proper wiring and component alignment completed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Final testing carried out after fabrication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•  Smooth movement and system performance achieved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6016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450C2-F8FA-4AA4-8F09-CB770327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162E55-BABC-62E9-8BFD-4BB552539C39}"/>
              </a:ext>
            </a:extLst>
          </p:cNvPr>
          <p:cNvSpPr txBox="1"/>
          <p:nvPr/>
        </p:nvSpPr>
        <p:spPr>
          <a:xfrm>
            <a:off x="2696547" y="454904"/>
            <a:ext cx="6148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RESULTS AND CONCLUSION</a:t>
            </a:r>
            <a:endParaRPr lang="en-IN" sz="4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20F716-62A5-E704-4F74-426373BC85D9}"/>
              </a:ext>
            </a:extLst>
          </p:cNvPr>
          <p:cNvSpPr txBox="1"/>
          <p:nvPr/>
        </p:nvSpPr>
        <p:spPr>
          <a:xfrm>
            <a:off x="813067" y="1525479"/>
            <a:ext cx="9805169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❖ The hovercraft model was tested successfully under controlled conditions.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The important observations are given below: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Air cushion was generated successfully by lift motor</a:t>
            </a:r>
          </a:p>
          <a:p>
            <a:pPr>
              <a:lnSpc>
                <a:spcPct val="150000"/>
              </a:lnSpc>
            </a:pPr>
            <a:r>
              <a:rPr lang="en-US" dirty="0"/>
              <a:t>• Forward movement achieved using thrust motor</a:t>
            </a:r>
          </a:p>
          <a:p>
            <a:pPr>
              <a:lnSpc>
                <a:spcPct val="150000"/>
              </a:lnSpc>
            </a:pPr>
            <a:r>
              <a:rPr lang="en-US" dirty="0"/>
              <a:t>• Steering control responded properly through rudder system</a:t>
            </a:r>
          </a:p>
          <a:p>
            <a:pPr>
              <a:lnSpc>
                <a:spcPct val="150000"/>
              </a:lnSpc>
            </a:pPr>
            <a:r>
              <a:rPr lang="en-US" dirty="0"/>
              <a:t>• Lightweight body improved movement efficiency</a:t>
            </a:r>
          </a:p>
          <a:p>
            <a:pPr>
              <a:lnSpc>
                <a:spcPct val="150000"/>
              </a:lnSpc>
            </a:pPr>
            <a:r>
              <a:rPr lang="en-US" dirty="0"/>
              <a:t>• Wireless control system worked smoothly</a:t>
            </a:r>
          </a:p>
          <a:p>
            <a:pPr>
              <a:lnSpc>
                <a:spcPct val="150000"/>
              </a:lnSpc>
            </a:pPr>
            <a:r>
              <a:rPr lang="en-US" dirty="0"/>
              <a:t>• Overall system performance was stable and satisfactory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project successfully demonstrated the design and working of an RC controlled air cushion vehicle.</a:t>
            </a:r>
          </a:p>
        </p:txBody>
      </p:sp>
    </p:spTree>
    <p:extLst>
      <p:ext uri="{BB962C8B-B14F-4D97-AF65-F5344CB8AC3E}">
        <p14:creationId xmlns:p14="http://schemas.microsoft.com/office/powerpoint/2010/main" val="1644332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B086D-85A1-537E-E058-893A39E1C845}"/>
              </a:ext>
            </a:extLst>
          </p:cNvPr>
          <p:cNvSpPr txBox="1"/>
          <p:nvPr/>
        </p:nvSpPr>
        <p:spPr>
          <a:xfrm>
            <a:off x="3023118" y="1950099"/>
            <a:ext cx="59809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b="1" dirty="0"/>
              <a:t>THANK YOU</a:t>
            </a:r>
          </a:p>
          <a:p>
            <a:pPr algn="ctr"/>
            <a:r>
              <a:rPr lang="en-IN" sz="3200" b="1" dirty="0">
                <a:latin typeface="Algerian" panose="04020705040A02060702" pitchFamily="82" charset="0"/>
              </a:rPr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655778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601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Gaganjot Kaur jot</dc:creator>
  <cp:lastModifiedBy>SOHAN DEVANSH</cp:lastModifiedBy>
  <cp:revision>13</cp:revision>
  <dcterms:created xsi:type="dcterms:W3CDTF">2024-06-04T05:58:36Z</dcterms:created>
  <dcterms:modified xsi:type="dcterms:W3CDTF">2026-04-28T16:20:08Z</dcterms:modified>
</cp:coreProperties>
</file>